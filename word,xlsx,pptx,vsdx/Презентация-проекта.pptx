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64" r:id="rId3"/>
    <p:sldId id="261" r:id="rId4"/>
    <p:sldId id="262" r:id="rId5"/>
    <p:sldId id="263" r:id="rId6"/>
    <p:sldId id="265" r:id="rId7"/>
    <p:sldId id="259" r:id="rId8"/>
    <p:sldId id="288" r:id="rId9"/>
    <p:sldId id="260" r:id="rId10"/>
    <p:sldId id="281" r:id="rId11"/>
    <p:sldId id="267" r:id="rId12"/>
    <p:sldId id="292" r:id="rId13"/>
    <p:sldId id="290" r:id="rId14"/>
    <p:sldId id="268" r:id="rId15"/>
    <p:sldId id="282" r:id="rId16"/>
    <p:sldId id="294" r:id="rId17"/>
    <p:sldId id="283" r:id="rId18"/>
    <p:sldId id="295" r:id="rId19"/>
    <p:sldId id="293" r:id="rId20"/>
    <p:sldId id="284" r:id="rId21"/>
    <p:sldId id="285" r:id="rId22"/>
    <p:sldId id="286" r:id="rId23"/>
    <p:sldId id="287" r:id="rId24"/>
    <p:sldId id="289" r:id="rId25"/>
    <p:sldId id="258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стер" initials="М" lastIdx="1" clrIdx="0">
    <p:extLst>
      <p:ext uri="{19B8F6BF-5375-455C-9EA6-DF929625EA0E}">
        <p15:presenceInfo xmlns:p15="http://schemas.microsoft.com/office/powerpoint/2012/main" userId="15968f44c73796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Темный стиль 2 —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D1CA2-5308-4119-A05B-3E2E9CD984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9C08E0-86AB-4415-9496-BD83A9191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0D0AE7-BB3C-447C-BFBC-07C014314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1006CC-7275-4DDA-83AE-22FAF95C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2E7799-76C6-4ED8-A66E-E1E23FF92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68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5CE65-098C-4F58-B3B8-0E00C513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7091DE-2370-43DD-A356-F33586E0C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C7C04B-EB40-4D84-91BF-26342AEB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E83528-55AF-45CA-AF85-A55A568D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9DECE4-0C54-40FB-ADA8-78BA80FD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01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967B8-1F91-490B-BBBD-20BB950F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3D643-BF03-449B-BB6D-25F168FC0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855340-7732-4FE5-8F96-00C6F07B5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613125-2012-47A6-87F8-C1939D8E4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ADDEC2-FA9E-4233-A0A8-2A91F89C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69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F5946-9FE4-4FB1-B32F-50FC2880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42A99A-2DCA-4BC9-9FF6-7BD1B5B3A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565942-EBED-4D57-8E04-CE8BAD1F5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3F1071-CF47-4578-9B57-D67A9795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693C09-3674-4F5B-87B6-BBD5FE83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2ED4D9-7AA0-4330-A30E-58D97705A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621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8A4A7-20E6-4A2C-92DE-36B24B69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F79699-F59C-4800-8DAB-3065A01F7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442D866-775E-4295-B579-FD9D38793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0CAB4A7-3AAE-4262-9CB2-299A23A0E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8E7161E-6BBB-4CCE-AAAC-7AE60AA86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774C32-8779-4E0C-9153-E42A7A25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23BA2F-BAC6-4718-9922-BE0C393A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F86821B-A0E0-4335-BA10-53AD72B3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719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A3CD83-072E-4DD4-AB3B-736A28CC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F65782-8E6E-427E-99FE-B3A0D3CE7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4894D4F-01BC-45C9-B6B5-1BF3A412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EB9C6CC-80B3-4CBF-AD35-D353AD1F3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0029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9515117-3872-47EE-BFE2-09FF08FD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8D3FE15-168F-4DAA-A76E-2AA7826A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F2644F-F460-44F9-B5A4-7735C13D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8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FF84A-AA56-48FB-BCC1-272A528F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0A288-11F8-49AA-B5E3-EB1F43310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6F3D9C-6568-4FAA-9501-53D6EA3BBB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DAE46D-FE72-48F2-B925-5CE130643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55ADE4-A147-488C-B800-EA460EB30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C330CD-DBE6-4E59-94F7-2AA6A1EB8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055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93D6E-86D7-4CD2-AA18-0238A9CEE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A6F4E54-21B1-41CD-AC5C-95BF844B8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B9174A-A636-4207-8EAF-2BD931D99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C58154-2C00-44A6-8D90-5C3F679C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3CE30E-328C-4C1D-8202-CA8BD41A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6F33666-B39F-4BFE-8405-F861C31C0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4504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F215C-D9C6-417E-809B-525777C1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F64692-B2A1-4DE8-8A68-E80D01751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3D2230-2D8F-4DEA-91B3-9626E79D8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91D403-EF21-4C2D-93D7-7818BF8E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C5D244-8C8B-4AC5-AB19-16F02445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23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287F13D-06A4-4C36-8562-6B62DD854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F26320C-B0B9-4EAE-A544-F7FB40C5A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43C224-31F0-4999-8E75-BA43B39F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C5D0A9-5543-45D1-B50F-C1A4CC4B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9DE0E2-0BA4-453D-95FA-AC209580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34DED-01F6-4E28-930E-45961192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8CB45E-79BE-4981-BC0C-11B897762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C79D00-D85B-49BB-B948-65AAAB909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EC41-8A25-4ADA-ACA6-3495204742B3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6B776B-4C06-46CC-B0AB-9C7455FCC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D26A6B-BA65-428B-B763-B8304F749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04E72-C05E-433E-9545-D5F5FEDE54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93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7088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2D2733-3207-403D-AFBF-CA7BFF7C7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1857454"/>
            <a:ext cx="7766936" cy="1646302"/>
          </a:xfrm>
        </p:spPr>
        <p:txBody>
          <a:bodyPr>
            <a:normAutofit/>
          </a:bodyPr>
          <a:lstStyle/>
          <a:p>
            <a:br>
              <a:rPr lang="en-US" sz="4000" dirty="0"/>
            </a:br>
            <a:r>
              <a:rPr lang="ru-RU" sz="2700" spc="-35" dirty="0">
                <a:effectLst/>
                <a:latin typeface="+mn-lt"/>
                <a:ea typeface="Times New Roman" panose="02020603050405020304" pitchFamily="18" charset="0"/>
              </a:rPr>
              <a:t>ПРЕЗЕНТАЦИЯ </a:t>
            </a:r>
            <a:r>
              <a:rPr lang="ru-RU" sz="2700" dirty="0">
                <a:effectLst/>
                <a:latin typeface="+mn-lt"/>
                <a:ea typeface="Times New Roman" panose="02020603050405020304" pitchFamily="18" charset="0"/>
              </a:rPr>
              <a:t>ПО</a:t>
            </a:r>
            <a:r>
              <a:rPr lang="ru-RU" sz="2700" spc="-35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ru-RU" sz="2700" dirty="0">
                <a:effectLst/>
                <a:latin typeface="+mn-lt"/>
                <a:ea typeface="Times New Roman" panose="02020603050405020304" pitchFamily="18" charset="0"/>
              </a:rPr>
              <a:t>УЧЕБНОЙ</a:t>
            </a:r>
            <a:r>
              <a:rPr lang="ru-RU" sz="2700" spc="-4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ru-RU" sz="2700" dirty="0">
                <a:effectLst/>
                <a:latin typeface="+mn-lt"/>
                <a:ea typeface="Times New Roman" panose="02020603050405020304" pitchFamily="18" charset="0"/>
              </a:rPr>
              <a:t>ПРАКТИКЕ</a:t>
            </a:r>
            <a:r>
              <a:rPr lang="ru-RU" sz="2700" spc="-30" dirty="0">
                <a:effectLst/>
                <a:latin typeface="+mn-lt"/>
                <a:ea typeface="Times New Roman" panose="02020603050405020304" pitchFamily="18" charset="0"/>
              </a:rPr>
              <a:t> </a:t>
            </a:r>
            <a:r>
              <a:rPr lang="ru-RU" sz="2700" spc="-10" dirty="0">
                <a:effectLst/>
                <a:latin typeface="+mn-lt"/>
                <a:ea typeface="Times New Roman" panose="02020603050405020304" pitchFamily="18" charset="0"/>
              </a:rPr>
              <a:t>04.01</a:t>
            </a:r>
            <a:br>
              <a:rPr lang="ru-RU" sz="4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000" dirty="0"/>
              <a:t>”</a:t>
            </a:r>
            <a:r>
              <a:rPr lang="ru-RU" sz="4000" dirty="0"/>
              <a:t>Чай не кофе</a:t>
            </a:r>
            <a:r>
              <a:rPr lang="en-US" sz="4000" dirty="0"/>
              <a:t>”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5B4337-4030-4EC4-960E-77CF1E38D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002215"/>
            <a:ext cx="6096000" cy="85578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ru-RU" dirty="0">
                <a:solidFill>
                  <a:schemeClr val="tx1"/>
                </a:solidFill>
              </a:rPr>
              <a:t>Группа</a:t>
            </a:r>
            <a:r>
              <a:rPr lang="en-US" dirty="0">
                <a:solidFill>
                  <a:schemeClr val="tx1"/>
                </a:solidFill>
              </a:rPr>
              <a:t>:</a:t>
            </a:r>
            <a:r>
              <a:rPr lang="ru-RU" dirty="0">
                <a:solidFill>
                  <a:schemeClr val="tx1"/>
                </a:solidFill>
              </a:rPr>
              <a:t> 22П-2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ru-RU" dirty="0">
                <a:solidFill>
                  <a:schemeClr val="tx1"/>
                </a:solidFill>
              </a:rPr>
              <a:t>Подготовили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ru-RU" dirty="0">
                <a:solidFill>
                  <a:schemeClr val="tx1"/>
                </a:solidFill>
              </a:rPr>
              <a:t>Казыханов Давид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ru-RU" dirty="0">
                <a:solidFill>
                  <a:schemeClr val="tx1"/>
                </a:solidFill>
              </a:rPr>
              <a:t>Бурмистров Вячеслав</a:t>
            </a:r>
          </a:p>
        </p:txBody>
      </p:sp>
    </p:spTree>
    <p:extLst>
      <p:ext uri="{BB962C8B-B14F-4D97-AF65-F5344CB8AC3E}">
        <p14:creationId xmlns:p14="http://schemas.microsoft.com/office/powerpoint/2010/main" val="383081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B2C32-CE7F-4EA4-A16B-CF50FE285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018ED1-0CDB-413D-B851-44FFA9970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Пользователи</a:t>
            </a:r>
            <a:r>
              <a:rPr lang="en-US" dirty="0"/>
              <a:t>:</a:t>
            </a:r>
          </a:p>
          <a:p>
            <a:r>
              <a:rPr lang="ru-RU" dirty="0"/>
              <a:t>Клиент</a:t>
            </a:r>
            <a:r>
              <a:rPr lang="en-US" dirty="0"/>
              <a:t>: </a:t>
            </a:r>
            <a:r>
              <a:rPr lang="ru-RU" dirty="0"/>
              <a:t>Просмотр меню</a:t>
            </a:r>
            <a:r>
              <a:rPr lang="en-US" dirty="0"/>
              <a:t>, </a:t>
            </a:r>
            <a:r>
              <a:rPr lang="ru-RU" dirty="0"/>
              <a:t>оформление заказа</a:t>
            </a:r>
          </a:p>
          <a:p>
            <a:r>
              <a:rPr lang="ru-RU" dirty="0"/>
              <a:t>Бариста</a:t>
            </a:r>
            <a:r>
              <a:rPr lang="en-US" dirty="0"/>
              <a:t>: </a:t>
            </a:r>
            <a:r>
              <a:rPr lang="ru-RU" dirty="0"/>
              <a:t>оформление заказа</a:t>
            </a:r>
            <a:r>
              <a:rPr lang="en-US" dirty="0"/>
              <a:t>, </a:t>
            </a:r>
            <a:r>
              <a:rPr lang="ru-RU" dirty="0"/>
              <a:t>регистрировать пользователя</a:t>
            </a:r>
          </a:p>
          <a:p>
            <a:r>
              <a:rPr lang="ru-RU" dirty="0"/>
              <a:t>Менеджер</a:t>
            </a:r>
            <a:r>
              <a:rPr lang="en-US" dirty="0"/>
              <a:t>: </a:t>
            </a:r>
            <a:r>
              <a:rPr lang="ru-RU" dirty="0"/>
              <a:t>управление товаром</a:t>
            </a:r>
            <a:r>
              <a:rPr lang="en-US" dirty="0"/>
              <a:t>, </a:t>
            </a:r>
            <a:r>
              <a:rPr lang="ru-RU" dirty="0"/>
              <a:t>добавление сотрудников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859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BEC9E-AE51-4060-8C5F-B6C8AC17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Use-case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8EBA340-9F36-4AF2-9D41-6DCE25DFE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96" y="1683910"/>
            <a:ext cx="11379607" cy="4128494"/>
          </a:xfrm>
        </p:spPr>
      </p:pic>
    </p:spTree>
    <p:extLst>
      <p:ext uri="{BB962C8B-B14F-4D97-AF65-F5344CB8AC3E}">
        <p14:creationId xmlns:p14="http://schemas.microsoft.com/office/powerpoint/2010/main" val="291500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C25CA2-F082-4E92-A617-53D9165F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Входная</a:t>
            </a:r>
            <a:r>
              <a:rPr lang="en-US" dirty="0"/>
              <a:t>/</a:t>
            </a:r>
            <a:r>
              <a:rPr lang="ru-RU" dirty="0"/>
              <a:t>Выходная 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A6C517-9CD7-4767-9A6A-C8CE8CA2A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41" y="1930400"/>
            <a:ext cx="794303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Входные данные</a:t>
            </a:r>
            <a:r>
              <a:rPr lang="en-US" dirty="0"/>
              <a:t>: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/>
              <a:t>список работников</a:t>
            </a:r>
            <a:endParaRPr lang="en-US" dirty="0"/>
          </a:p>
          <a:p>
            <a:r>
              <a:rPr lang="ru-RU" dirty="0"/>
              <a:t>список клиентов</a:t>
            </a:r>
            <a:endParaRPr lang="en-US" dirty="0"/>
          </a:p>
          <a:p>
            <a:r>
              <a:rPr lang="ru-RU" dirty="0"/>
              <a:t>прайс лист меню</a:t>
            </a:r>
            <a:endParaRPr lang="en-US" dirty="0"/>
          </a:p>
          <a:p>
            <a:r>
              <a:rPr lang="ru-RU" dirty="0"/>
              <a:t>список заказа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Выходные данные</a:t>
            </a:r>
            <a:r>
              <a:rPr lang="en-US" dirty="0"/>
              <a:t>:</a:t>
            </a:r>
          </a:p>
          <a:p>
            <a:r>
              <a:rPr lang="ru-RU" dirty="0"/>
              <a:t>чек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7669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48129-02C6-41DF-8703-2F722E33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выходной информации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FC4B25-20F7-4186-90FA-E65DA2E26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853" y="1410252"/>
            <a:ext cx="6523055" cy="4963194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34501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9586F-F46C-4C31-889A-947B41D18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785" y="60325"/>
            <a:ext cx="10515600" cy="1325563"/>
          </a:xfrm>
        </p:spPr>
        <p:txBody>
          <a:bodyPr/>
          <a:lstStyle/>
          <a:p>
            <a:r>
              <a:rPr lang="en-US" dirty="0"/>
              <a:t>ERD-</a:t>
            </a:r>
            <a:r>
              <a:rPr lang="ru-RU" dirty="0"/>
              <a:t>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6A2FF7-A85D-4E18-82BA-2D54EEE88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828" y="1125416"/>
            <a:ext cx="5271534" cy="557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8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46735E-C2DB-445F-8D3A-E74AEB0E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63"/>
            <a:ext cx="10515600" cy="1325563"/>
          </a:xfrm>
        </p:spPr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67FD7864-CE01-4E1D-A2CF-98537C07C3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110" y="1297354"/>
            <a:ext cx="4966982" cy="5560646"/>
          </a:xfrm>
        </p:spPr>
      </p:pic>
    </p:spTree>
    <p:extLst>
      <p:ext uri="{BB962C8B-B14F-4D97-AF65-F5344CB8AC3E}">
        <p14:creationId xmlns:p14="http://schemas.microsoft.com/office/powerpoint/2010/main" val="282870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A76E9-6A94-4D87-95EE-82707EEC8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0515600" cy="1325563"/>
          </a:xfrm>
        </p:spPr>
        <p:txBody>
          <a:bodyPr/>
          <a:lstStyle/>
          <a:p>
            <a:r>
              <a:rPr lang="ru-RU" dirty="0"/>
              <a:t>Схема взаимодействия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57F4F97-4B43-435D-99E0-61ACEA2483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751411"/>
              </p:ext>
            </p:extLst>
          </p:nvPr>
        </p:nvGraphicFramePr>
        <p:xfrm>
          <a:off x="2057400" y="1209268"/>
          <a:ext cx="7627873" cy="54305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Visio" r:id="rId3" imgW="8696077" imgH="6190807" progId="Visio.Drawing.15">
                  <p:embed/>
                </p:oleObj>
              </mc:Choice>
              <mc:Fallback>
                <p:oleObj name="Visio" r:id="rId3" imgW="8696077" imgH="6190807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7400" y="1209268"/>
                        <a:ext cx="7627873" cy="543057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150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CA1B20-5C7A-4EBE-926B-D60420B4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62" y="117231"/>
            <a:ext cx="10515600" cy="1325563"/>
          </a:xfrm>
        </p:spPr>
        <p:txBody>
          <a:bodyPr/>
          <a:lstStyle/>
          <a:p>
            <a:r>
              <a:rPr lang="ru-RU" dirty="0"/>
              <a:t>Диаграмма Развертывания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B4100B-9A8B-4944-85B5-87AD0750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02" y="1290998"/>
            <a:ext cx="7911637" cy="544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56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C8FF40-671A-44A6-A41C-E12B9FF4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D81A6E-BAFD-4324-AFD3-1226BE283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84" y="1809995"/>
            <a:ext cx="8759092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Веб-сайт клиента </a:t>
            </a:r>
            <a:r>
              <a:rPr lang="en-US" dirty="0"/>
              <a:t>(Vue.js):</a:t>
            </a:r>
          </a:p>
          <a:p>
            <a:r>
              <a:rPr lang="ru-RU" dirty="0"/>
              <a:t>Пользовательский интерфейс для оформление заказа кофейни</a:t>
            </a:r>
          </a:p>
          <a:p>
            <a:pPr marL="0" indent="0">
              <a:buNone/>
            </a:pPr>
            <a:r>
              <a:rPr lang="en-US" dirty="0"/>
              <a:t>API (ASP.NET Core):</a:t>
            </a:r>
          </a:p>
          <a:p>
            <a:r>
              <a:rPr lang="ru-RU" dirty="0"/>
              <a:t>Обеспечивает связь между пользователями и БД</a:t>
            </a:r>
          </a:p>
          <a:p>
            <a:pPr marL="0" indent="0">
              <a:buNone/>
            </a:pPr>
            <a:r>
              <a:rPr lang="ru-RU" dirty="0"/>
              <a:t>Админ-приложение (</a:t>
            </a:r>
            <a:r>
              <a:rPr lang="en-US" dirty="0"/>
              <a:t>WPF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Десктопное приложение для оформление заказа и управление системой</a:t>
            </a:r>
            <a:endParaRPr lang="en-US" dirty="0"/>
          </a:p>
        </p:txBody>
      </p:sp>
      <p:pic>
        <p:nvPicPr>
          <p:cNvPr id="1026" name="Picture 2" descr="ASP.NET Core Hosting from $3.50/month | .NET 8/9 Hosting">
            <a:extLst>
              <a:ext uri="{FF2B5EF4-FFF2-40B4-BE49-F238E27FC236}">
                <a16:creationId xmlns:a16="http://schemas.microsoft.com/office/drawing/2014/main" id="{54D18F5D-3E20-4F03-88D6-59AD104F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356" y="3256888"/>
            <a:ext cx="2622305" cy="174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Как создать уникальный blur фон текста в C# WPF">
            <a:extLst>
              <a:ext uri="{FF2B5EF4-FFF2-40B4-BE49-F238E27FC236}">
                <a16:creationId xmlns:a16="http://schemas.microsoft.com/office/drawing/2014/main" id="{C7DA6256-ABF8-4753-A070-18816F9A6B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41" t="24328" r="38671" b="25421"/>
          <a:stretch/>
        </p:blipFill>
        <p:spPr bwMode="auto">
          <a:xfrm>
            <a:off x="9499356" y="5006308"/>
            <a:ext cx="2622305" cy="161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ue.js — Википедия">
            <a:extLst>
              <a:ext uri="{FF2B5EF4-FFF2-40B4-BE49-F238E27FC236}">
                <a16:creationId xmlns:a16="http://schemas.microsoft.com/office/drawing/2014/main" id="{C5B5E724-2C28-46A3-B2F0-F28E5919D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144" y="1507468"/>
            <a:ext cx="2226728" cy="174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47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62E4AA-3A1C-48DC-8AAD-2026F939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54" y="-213214"/>
            <a:ext cx="10515600" cy="1325563"/>
          </a:xfrm>
        </p:spPr>
        <p:txBody>
          <a:bodyPr/>
          <a:lstStyle/>
          <a:p>
            <a:r>
              <a:rPr lang="en-US" dirty="0"/>
              <a:t>API swagger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0FBA10-2E8C-4421-8CB7-12C8CD088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4" y="797840"/>
            <a:ext cx="7487138" cy="36523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1D9E31E-DD90-41A3-88C4-0DBB6A93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309" y="2962701"/>
            <a:ext cx="7487137" cy="365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68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5526B60-1129-4841-A989-37A8A070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API </a:t>
            </a:r>
            <a:r>
              <a:rPr lang="ru-RU" dirty="0"/>
              <a:t>Документация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A2A369-BF03-4303-95FE-982FAAE26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97353"/>
            <a:ext cx="3545203" cy="4767425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729A6559-E80D-4171-A0F4-E48CC2493E1C}"/>
              </a:ext>
            </a:extLst>
          </p:cNvPr>
          <p:cNvSpPr txBox="1">
            <a:spLocks/>
          </p:cNvSpPr>
          <p:nvPr/>
        </p:nvSpPr>
        <p:spPr>
          <a:xfrm>
            <a:off x="971965" y="6038158"/>
            <a:ext cx="3277671" cy="75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Вход клиента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8C9D6E7-7D11-4291-BA99-A706FA6F3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557" y="1297353"/>
            <a:ext cx="2991044" cy="4326667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8FABA932-8468-4B53-84CE-303296008236}"/>
              </a:ext>
            </a:extLst>
          </p:cNvPr>
          <p:cNvSpPr txBox="1">
            <a:spLocks/>
          </p:cNvSpPr>
          <p:nvPr/>
        </p:nvSpPr>
        <p:spPr>
          <a:xfrm>
            <a:off x="5032057" y="5684815"/>
            <a:ext cx="3277671" cy="75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Добавить заказ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F79B036-2B6F-4951-AF6B-2DA2B27C70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298" y="1172384"/>
            <a:ext cx="3338656" cy="4767425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096246EC-5F0B-457B-B70D-E013121B12F4}"/>
              </a:ext>
            </a:extLst>
          </p:cNvPr>
          <p:cNvSpPr txBox="1">
            <a:spLocks/>
          </p:cNvSpPr>
          <p:nvPr/>
        </p:nvSpPr>
        <p:spPr>
          <a:xfrm>
            <a:off x="8643063" y="5939809"/>
            <a:ext cx="3277671" cy="759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Удалить товар из корзины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01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E0AE27B9-937E-4CDB-8052-421FFEF90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858" y="1614609"/>
            <a:ext cx="2927814" cy="4351338"/>
          </a:xfr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EB1362FA-A428-4050-BF05-9D9E25A15950}"/>
              </a:ext>
            </a:extLst>
          </p:cNvPr>
          <p:cNvSpPr txBox="1">
            <a:spLocks/>
          </p:cNvSpPr>
          <p:nvPr/>
        </p:nvSpPr>
        <p:spPr>
          <a:xfrm>
            <a:off x="559857" y="5965947"/>
            <a:ext cx="3277671" cy="75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Вывести все товары</a:t>
            </a:r>
            <a:endParaRPr lang="en-US" dirty="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4D1D164B-F01D-4B41-BCED-30EA3E0B617C}"/>
              </a:ext>
            </a:extLst>
          </p:cNvPr>
          <p:cNvSpPr txBox="1">
            <a:spLocks/>
          </p:cNvSpPr>
          <p:nvPr/>
        </p:nvSpPr>
        <p:spPr>
          <a:xfrm>
            <a:off x="4527550" y="5965946"/>
            <a:ext cx="3136900" cy="759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Добавить товар</a:t>
            </a:r>
            <a:endParaRPr lang="en-US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DD36F443-A719-4300-B4FC-B531BE45ED0C}"/>
              </a:ext>
            </a:extLst>
          </p:cNvPr>
          <p:cNvSpPr txBox="1">
            <a:spLocks/>
          </p:cNvSpPr>
          <p:nvPr/>
        </p:nvSpPr>
        <p:spPr>
          <a:xfrm>
            <a:off x="8286155" y="5965945"/>
            <a:ext cx="3687014" cy="89205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Редактирование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товара</a:t>
            </a:r>
            <a:endParaRPr lang="en-US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B333322-D98E-4D58-8BA1-03309666A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37" y="1614608"/>
            <a:ext cx="3293171" cy="435133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DC223E3-6607-431A-8634-47520D41E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155" y="1614608"/>
            <a:ext cx="28288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0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1C717-E1AF-4446-A7B7-14028809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69" y="99035"/>
            <a:ext cx="10515600" cy="1325563"/>
          </a:xfrm>
        </p:spPr>
        <p:txBody>
          <a:bodyPr/>
          <a:lstStyle/>
          <a:p>
            <a:r>
              <a:rPr lang="ru-RU" dirty="0"/>
              <a:t>Юзабилити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EADA5A-BB9B-415C-BBF9-7486B57D7F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057"/>
          <a:stretch/>
        </p:blipFill>
        <p:spPr>
          <a:xfrm>
            <a:off x="2696308" y="1157424"/>
            <a:ext cx="6475139" cy="533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822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BF6EF0-4F7B-437D-A1D5-872B123B47B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057"/>
          <a:stretch/>
        </p:blipFill>
        <p:spPr>
          <a:xfrm>
            <a:off x="2461846" y="724602"/>
            <a:ext cx="6992937" cy="383958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826443-5AC0-4118-BCC4-067872341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354" y="4590252"/>
            <a:ext cx="7065107" cy="163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56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72D4A54-C687-44A5-A7DE-6C61A086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 для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1007780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88FB768-9C2D-455D-994D-465913FE7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554" y="2800106"/>
            <a:ext cx="2986229" cy="533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Модальное окно входа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53EAF2-BF24-4F43-A754-AD13D70492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72127" y="311578"/>
            <a:ext cx="5508431" cy="32387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518B76-BBB5-4B55-97B6-B1BEBE1803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67324" y="1061795"/>
            <a:ext cx="2882459" cy="1738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88D47011-B78D-4C24-B062-E2AF0DAD472D}"/>
              </a:ext>
            </a:extLst>
          </p:cNvPr>
          <p:cNvSpPr txBox="1">
            <a:spLocks/>
          </p:cNvSpPr>
          <p:nvPr/>
        </p:nvSpPr>
        <p:spPr>
          <a:xfrm>
            <a:off x="7349860" y="3550323"/>
            <a:ext cx="3411925" cy="5099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Главная страница (Каталог)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BB631A9-61C4-4CFC-8933-80D6023605D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035" y="3347550"/>
            <a:ext cx="4021041" cy="28422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96C3167B-DE7C-495E-8C90-553044C450E4}"/>
              </a:ext>
            </a:extLst>
          </p:cNvPr>
          <p:cNvSpPr txBox="1">
            <a:spLocks/>
          </p:cNvSpPr>
          <p:nvPr/>
        </p:nvSpPr>
        <p:spPr>
          <a:xfrm>
            <a:off x="1346422" y="6269772"/>
            <a:ext cx="3555522" cy="5335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Окно управление корзиной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44FA918-3CEA-4575-8B08-0A2B321C7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8203" y="4340495"/>
            <a:ext cx="4372585" cy="1381318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CCA41D66-B37D-459B-8D80-190BAD21BC3C}"/>
              </a:ext>
            </a:extLst>
          </p:cNvPr>
          <p:cNvSpPr txBox="1">
            <a:spLocks/>
          </p:cNvSpPr>
          <p:nvPr/>
        </p:nvSpPr>
        <p:spPr>
          <a:xfrm>
            <a:off x="7421186" y="5753075"/>
            <a:ext cx="2986229" cy="533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Сообщение об успешном оформлении заказа</a:t>
            </a:r>
          </a:p>
        </p:txBody>
      </p:sp>
    </p:spTree>
    <p:extLst>
      <p:ext uri="{BB962C8B-B14F-4D97-AF65-F5344CB8AC3E}">
        <p14:creationId xmlns:p14="http://schemas.microsoft.com/office/powerpoint/2010/main" val="2053969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F29F4A-00D0-403A-9011-C7EC39A0C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09" y="1325563"/>
            <a:ext cx="3343742" cy="23244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A6BB0DC-0CBC-4633-8DDA-6207E4BF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84" y="0"/>
            <a:ext cx="10515600" cy="1325563"/>
          </a:xfrm>
        </p:spPr>
        <p:txBody>
          <a:bodyPr/>
          <a:lstStyle/>
          <a:p>
            <a:r>
              <a:rPr lang="ru-RU" dirty="0"/>
              <a:t>Обработка ошибок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3A7B322-7C28-47D0-AFDF-5EEF63DE3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827" y="1325563"/>
            <a:ext cx="4801270" cy="2038635"/>
          </a:xfrm>
          <a:prstGeom prst="rect">
            <a:avLst/>
          </a:prstGeom>
        </p:spPr>
      </p:pic>
      <p:sp>
        <p:nvSpPr>
          <p:cNvPr id="16" name="Объект 2">
            <a:extLst>
              <a:ext uri="{FF2B5EF4-FFF2-40B4-BE49-F238E27FC236}">
                <a16:creationId xmlns:a16="http://schemas.microsoft.com/office/drawing/2014/main" id="{FEFD5A73-7EE8-466E-889B-F3D410638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065" y="3649987"/>
            <a:ext cx="2986229" cy="533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Модальное окно входа</a:t>
            </a: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1A792311-4151-4E6F-82C8-6784AF0DF3E7}"/>
              </a:ext>
            </a:extLst>
          </p:cNvPr>
          <p:cNvSpPr txBox="1">
            <a:spLocks/>
          </p:cNvSpPr>
          <p:nvPr/>
        </p:nvSpPr>
        <p:spPr>
          <a:xfrm>
            <a:off x="5783384" y="3383226"/>
            <a:ext cx="3595078" cy="53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Окно управление корзиной</a:t>
            </a:r>
          </a:p>
        </p:txBody>
      </p:sp>
    </p:spTree>
    <p:extLst>
      <p:ext uri="{BB962C8B-B14F-4D97-AF65-F5344CB8AC3E}">
        <p14:creationId xmlns:p14="http://schemas.microsoft.com/office/powerpoint/2010/main" val="1322602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5AA561-F1E6-4C14-B28B-31A34FDA9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Руководство пользователя для администратора</a:t>
            </a:r>
          </a:p>
        </p:txBody>
      </p:sp>
    </p:spTree>
    <p:extLst>
      <p:ext uri="{BB962C8B-B14F-4D97-AF65-F5344CB8AC3E}">
        <p14:creationId xmlns:p14="http://schemas.microsoft.com/office/powerpoint/2010/main" val="3743282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25A142-7FC5-4400-994F-72D02E75BDE5}"/>
              </a:ext>
            </a:extLst>
          </p:cNvPr>
          <p:cNvPicPr/>
          <p:nvPr/>
        </p:nvPicPr>
        <p:blipFill rotWithShape="1">
          <a:blip r:embed="rId2"/>
          <a:srcRect l="25000" r="24870"/>
          <a:stretch/>
        </p:blipFill>
        <p:spPr>
          <a:xfrm>
            <a:off x="304800" y="202514"/>
            <a:ext cx="2977662" cy="31229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534AA8F1-A217-4DBE-9D4C-F4A861F50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09" y="3325444"/>
            <a:ext cx="1978044" cy="533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Окно входа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847306-134B-4744-BD18-18C2AFC6C2A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68431" y="202515"/>
            <a:ext cx="4114628" cy="31229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A759EE73-7831-414D-B163-1835E0AC0895}"/>
              </a:ext>
            </a:extLst>
          </p:cNvPr>
          <p:cNvSpPr txBox="1">
            <a:spLocks/>
          </p:cNvSpPr>
          <p:nvPr/>
        </p:nvSpPr>
        <p:spPr>
          <a:xfrm>
            <a:off x="4561770" y="3325444"/>
            <a:ext cx="1978044" cy="53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Главный меню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D73715-1613-4F04-B1F5-0CC8EB2748D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557632" y="155768"/>
            <a:ext cx="4520399" cy="31229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DCAB761B-2F0E-4BEB-89D0-B1EB689BE706}"/>
              </a:ext>
            </a:extLst>
          </p:cNvPr>
          <p:cNvSpPr txBox="1">
            <a:spLocks/>
          </p:cNvSpPr>
          <p:nvPr/>
        </p:nvSpPr>
        <p:spPr>
          <a:xfrm>
            <a:off x="8762367" y="3325444"/>
            <a:ext cx="2664641" cy="533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Управление товарами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403922E2-9049-4359-88D2-A7A3613375D9}"/>
              </a:ext>
            </a:extLst>
          </p:cNvPr>
          <p:cNvSpPr txBox="1">
            <a:spLocks/>
          </p:cNvSpPr>
          <p:nvPr/>
        </p:nvSpPr>
        <p:spPr>
          <a:xfrm>
            <a:off x="3462010" y="6282178"/>
            <a:ext cx="4177562" cy="533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Добавление</a:t>
            </a:r>
            <a:r>
              <a:rPr lang="en-US" sz="2200" dirty="0"/>
              <a:t>/</a:t>
            </a:r>
            <a:r>
              <a:rPr lang="ru-RU" sz="2200" dirty="0"/>
              <a:t>Редактирование товара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8967CE4-EB19-4B27-8273-280D3A4E3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130" y="3741100"/>
            <a:ext cx="3923323" cy="24774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8297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C12002-6272-424B-89AE-C460DAF0F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98" y="237366"/>
            <a:ext cx="4767387" cy="2845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5A61C57B-4CA6-45D6-85D8-61CDE1C55A4C}"/>
              </a:ext>
            </a:extLst>
          </p:cNvPr>
          <p:cNvSpPr txBox="1">
            <a:spLocks/>
          </p:cNvSpPr>
          <p:nvPr/>
        </p:nvSpPr>
        <p:spPr>
          <a:xfrm>
            <a:off x="1182384" y="3082524"/>
            <a:ext cx="2753013" cy="533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Управление клиентами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6A65AEF-DA4E-43E2-81C8-9ABE8A71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201" y="237366"/>
            <a:ext cx="3125116" cy="2845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4E007275-C5CD-4357-B9A8-8BEB0DFEF84B}"/>
              </a:ext>
            </a:extLst>
          </p:cNvPr>
          <p:cNvSpPr txBox="1">
            <a:spLocks/>
          </p:cNvSpPr>
          <p:nvPr/>
        </p:nvSpPr>
        <p:spPr>
          <a:xfrm>
            <a:off x="6976824" y="3051523"/>
            <a:ext cx="3068260" cy="533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Окно добавления клиента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7D4B64FB-37BB-45C4-901D-ADE3C5732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45536" y="3429000"/>
            <a:ext cx="4767387" cy="2845158"/>
          </a:xfrm>
          <a:ln>
            <a:solidFill>
              <a:schemeClr val="tx1"/>
            </a:solidFill>
          </a:ln>
        </p:spPr>
      </p:pic>
      <p:sp>
        <p:nvSpPr>
          <p:cNvPr id="9" name="Объект 2">
            <a:extLst>
              <a:ext uri="{FF2B5EF4-FFF2-40B4-BE49-F238E27FC236}">
                <a16:creationId xmlns:a16="http://schemas.microsoft.com/office/drawing/2014/main" id="{C2500A7F-F2A2-4B70-95EB-A0A42FF21AC9}"/>
              </a:ext>
            </a:extLst>
          </p:cNvPr>
          <p:cNvSpPr txBox="1">
            <a:spLocks/>
          </p:cNvSpPr>
          <p:nvPr/>
        </p:nvSpPr>
        <p:spPr>
          <a:xfrm>
            <a:off x="1252722" y="6324478"/>
            <a:ext cx="3194232" cy="5335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Управление Сотрудниками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A9A7CF-BE7B-4242-A243-16FB34D51D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201" y="3429000"/>
            <a:ext cx="3125116" cy="28451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F78FBA92-6BE2-4164-89DC-61044ECAA704}"/>
              </a:ext>
            </a:extLst>
          </p:cNvPr>
          <p:cNvSpPr txBox="1">
            <a:spLocks/>
          </p:cNvSpPr>
          <p:nvPr/>
        </p:nvSpPr>
        <p:spPr>
          <a:xfrm>
            <a:off x="6660662" y="6274158"/>
            <a:ext cx="3700584" cy="53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Окно добавления сотрудника</a:t>
            </a:r>
          </a:p>
        </p:txBody>
      </p:sp>
    </p:spTree>
    <p:extLst>
      <p:ext uri="{BB962C8B-B14F-4D97-AF65-F5344CB8AC3E}">
        <p14:creationId xmlns:p14="http://schemas.microsoft.com/office/powerpoint/2010/main" val="1098497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4">
            <a:extLst>
              <a:ext uri="{FF2B5EF4-FFF2-40B4-BE49-F238E27FC236}">
                <a16:creationId xmlns:a16="http://schemas.microsoft.com/office/drawing/2014/main" id="{905D2983-A277-47D4-A1B6-BE88BEDBE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700" y="229211"/>
            <a:ext cx="4887545" cy="5458313"/>
          </a:xfrm>
          <a:ln>
            <a:solidFill>
              <a:schemeClr val="tx1"/>
            </a:solidFill>
          </a:ln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DDCC32E9-817F-488D-A27D-2188CCA4605E}"/>
              </a:ext>
            </a:extLst>
          </p:cNvPr>
          <p:cNvSpPr txBox="1">
            <a:spLocks/>
          </p:cNvSpPr>
          <p:nvPr/>
        </p:nvSpPr>
        <p:spPr>
          <a:xfrm>
            <a:off x="2318391" y="5687524"/>
            <a:ext cx="3194232" cy="53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Окно корзины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0C0016-3B61-4478-94B0-B9DCBB0F7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2733"/>
            <a:ext cx="5236307" cy="43513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BC478777-B53F-4E25-A7A1-EFB94E1F0500}"/>
              </a:ext>
            </a:extLst>
          </p:cNvPr>
          <p:cNvSpPr txBox="1">
            <a:spLocks/>
          </p:cNvSpPr>
          <p:nvPr/>
        </p:nvSpPr>
        <p:spPr>
          <a:xfrm>
            <a:off x="7272783" y="5114071"/>
            <a:ext cx="3304778" cy="5335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200" dirty="0"/>
              <a:t>Окно оформления заказа</a:t>
            </a:r>
          </a:p>
        </p:txBody>
      </p:sp>
    </p:spTree>
    <p:extLst>
      <p:ext uri="{BB962C8B-B14F-4D97-AF65-F5344CB8AC3E}">
        <p14:creationId xmlns:p14="http://schemas.microsoft.com/office/powerpoint/2010/main" val="3442691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09CEAE-1A7D-4AB6-AE11-8FF9D62D1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76" y="964255"/>
            <a:ext cx="5581648" cy="51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014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5C1FA-E939-4052-A7DC-E767C3E8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8A5ADE-CEDF-4319-B755-C4CD896CC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1185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0" i="0" dirty="0">
                <a:effectLst/>
                <a:latin typeface="Calibri (Основной текст)"/>
              </a:rPr>
              <a:t>В ходе проекта была разработана полнофункциональная система для автоматизации процессов кофейни. Все цели проекта достигнуты.</a:t>
            </a:r>
          </a:p>
          <a:p>
            <a:pPr marL="0" indent="0">
              <a:buNone/>
            </a:pPr>
            <a:endParaRPr lang="ru-RU" sz="2400" b="0" i="0" dirty="0">
              <a:effectLst/>
              <a:latin typeface="Calibri (Основной текст)"/>
            </a:endParaRPr>
          </a:p>
          <a:p>
            <a:pPr marL="0" indent="0">
              <a:buNone/>
            </a:pPr>
            <a:r>
              <a:rPr lang="ru-RU" sz="2400" dirty="0">
                <a:latin typeface="Calibri (Основной текст)"/>
              </a:rPr>
              <a:t>В проект входит</a:t>
            </a:r>
            <a:r>
              <a:rPr lang="en-US" sz="2400" dirty="0">
                <a:latin typeface="Calibri (Основной текст)"/>
              </a:rPr>
              <a:t>: </a:t>
            </a:r>
          </a:p>
          <a:p>
            <a:r>
              <a:rPr lang="ru-RU" sz="2400" dirty="0">
                <a:latin typeface="Calibri (Основной текст)"/>
                <a:cs typeface="Times New Roman" panose="02020603050405020304" pitchFamily="18" charset="0"/>
              </a:rPr>
              <a:t>Веб-сайт для клиентов</a:t>
            </a:r>
            <a:endParaRPr lang="en-US" sz="2400" dirty="0">
              <a:latin typeface="Calibri (Основной текст)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Calibri (Основной текст)"/>
                <a:cs typeface="Times New Roman" panose="02020603050405020304" pitchFamily="18" charset="0"/>
              </a:rPr>
              <a:t>API</a:t>
            </a:r>
          </a:p>
          <a:p>
            <a:r>
              <a:rPr lang="en-US" sz="2400" dirty="0">
                <a:latin typeface="Calibri (Основной текст)"/>
                <a:cs typeface="Times New Roman" panose="02020603050405020304" pitchFamily="18" charset="0"/>
              </a:rPr>
              <a:t>WPF-</a:t>
            </a:r>
            <a:r>
              <a:rPr lang="ru-RU" sz="2400" dirty="0">
                <a:latin typeface="Calibri (Основной текст)"/>
                <a:cs typeface="Times New Roman" panose="02020603050405020304" pitchFamily="18" charset="0"/>
              </a:rPr>
              <a:t>приложение для администраторов</a:t>
            </a:r>
            <a:endParaRPr lang="en-US" sz="2400" dirty="0">
              <a:latin typeface="Calibri (Основной текст)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0" i="0" dirty="0">
                <a:effectLst/>
                <a:latin typeface="Calibri (Основной текст)"/>
              </a:rPr>
              <a:t>Система прошла </a:t>
            </a:r>
            <a:r>
              <a:rPr lang="ru-RU" sz="2400" dirty="0">
                <a:latin typeface="Calibri (Основной текст)"/>
              </a:rPr>
              <a:t>функциональное и юзабилити тестирование</a:t>
            </a:r>
          </a:p>
          <a:p>
            <a:pPr marL="0" indent="0">
              <a:buNone/>
            </a:pPr>
            <a:endParaRPr lang="ru-RU" sz="2400" dirty="0">
              <a:latin typeface="Calibri (Основной текст)"/>
            </a:endParaRPr>
          </a:p>
          <a:p>
            <a:pPr marL="0" indent="0">
              <a:buNone/>
            </a:pPr>
            <a:r>
              <a:rPr lang="en-US" sz="2400" b="0" i="0" dirty="0" err="1">
                <a:effectLst/>
                <a:latin typeface="Calibri (Основной текст)"/>
              </a:rPr>
              <a:t>C</a:t>
            </a:r>
            <a:r>
              <a:rPr lang="en-US" sz="2400" dirty="0" err="1">
                <a:latin typeface="Calibri (Основной текст)"/>
              </a:rPr>
              <a:t>afe.vue</a:t>
            </a:r>
            <a:r>
              <a:rPr lang="en-US" sz="2400" dirty="0">
                <a:latin typeface="Calibri (Основной текст)"/>
              </a:rPr>
              <a:t> (Vue.js) – </a:t>
            </a:r>
            <a:r>
              <a:rPr lang="ru-RU" sz="2400" dirty="0">
                <a:latin typeface="Calibri (Основной текст)"/>
              </a:rPr>
              <a:t>Клиентское приложение</a:t>
            </a:r>
            <a:r>
              <a:rPr lang="en-US" sz="2400" dirty="0">
                <a:latin typeface="Calibri (Основной текст)"/>
              </a:rPr>
              <a:t>(http://localhost:5173)</a:t>
            </a:r>
            <a:endParaRPr lang="en-US" sz="2400" b="0" i="0" dirty="0">
              <a:effectLst/>
              <a:latin typeface="Calibri (Основной текст)"/>
            </a:endParaRPr>
          </a:p>
          <a:p>
            <a:pPr marL="0" indent="0">
              <a:buNone/>
            </a:pPr>
            <a:r>
              <a:rPr lang="en-US" sz="2400" dirty="0">
                <a:latin typeface="Calibri (Основной текст)"/>
              </a:rPr>
              <a:t>Coffe_App.exe – </a:t>
            </a:r>
            <a:r>
              <a:rPr lang="ru-RU" sz="2400" dirty="0">
                <a:latin typeface="Calibri (Основной текст)"/>
              </a:rPr>
              <a:t>Административное приложение</a:t>
            </a:r>
          </a:p>
          <a:p>
            <a:pPr marL="0" indent="0">
              <a:buNone/>
            </a:pPr>
            <a:r>
              <a:rPr lang="en-US" sz="2400" dirty="0" err="1">
                <a:latin typeface="Calibri (Основной текст)"/>
              </a:rPr>
              <a:t>Web_Coffe</a:t>
            </a:r>
            <a:r>
              <a:rPr lang="en-US" sz="2400" dirty="0">
                <a:latin typeface="Calibri (Основной текст)"/>
              </a:rPr>
              <a:t> – </a:t>
            </a:r>
            <a:r>
              <a:rPr lang="ru-RU" sz="2400" dirty="0">
                <a:latin typeface="Calibri (Основной текст)"/>
              </a:rPr>
              <a:t>Северное приложение(</a:t>
            </a:r>
            <a:r>
              <a:rPr lang="en-US" sz="2400" b="0" i="0" u="none" strike="noStrike" dirty="0">
                <a:effectLst/>
                <a:latin typeface="Calibri (Основной текст)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http://localhost:7088</a:t>
            </a:r>
            <a:r>
              <a:rPr lang="ru-RU" sz="2400" dirty="0">
                <a:latin typeface="Calibri (Основной текст)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7808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A856E-8FFB-4B14-8C55-7B245356DC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3887570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</TotalTime>
  <Words>273</Words>
  <Application>Microsoft Office PowerPoint</Application>
  <PresentationFormat>Широкоэкранный</PresentationFormat>
  <Paragraphs>72</Paragraphs>
  <Slides>25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(Основной текст)</vt:lpstr>
      <vt:lpstr>Calibri Light</vt:lpstr>
      <vt:lpstr>Times New Roman</vt:lpstr>
      <vt:lpstr>Тема Office</vt:lpstr>
      <vt:lpstr>Visio</vt:lpstr>
      <vt:lpstr> ПРЕЗЕНТАЦИЯ ПО УЧЕБНОЙ ПРАКТИКЕ 04.01 ”Чай не кофе”</vt:lpstr>
      <vt:lpstr>Проектирование Системы</vt:lpstr>
      <vt:lpstr>Use-case</vt:lpstr>
      <vt:lpstr>Входная/Выходная информация</vt:lpstr>
      <vt:lpstr>Шаблон выходной информации</vt:lpstr>
      <vt:lpstr>ERD-Диаграмма</vt:lpstr>
      <vt:lpstr>Диаграмма классов</vt:lpstr>
      <vt:lpstr>Схема взаимодействия</vt:lpstr>
      <vt:lpstr>Диаграмма Развертывания</vt:lpstr>
      <vt:lpstr>Инструменты</vt:lpstr>
      <vt:lpstr>API swagger</vt:lpstr>
      <vt:lpstr>API Документация</vt:lpstr>
      <vt:lpstr>Презентация PowerPoint</vt:lpstr>
      <vt:lpstr>Юзабилити</vt:lpstr>
      <vt:lpstr>Презентация PowerPoint</vt:lpstr>
      <vt:lpstr>Руководство пользователя для клиента</vt:lpstr>
      <vt:lpstr>Презентация PowerPoint</vt:lpstr>
      <vt:lpstr>Обработка ошибок</vt:lpstr>
      <vt:lpstr>Руководство пользователя для администратора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конфигурации и сборки приложения</dc:title>
  <dc:creator>Мастер</dc:creator>
  <cp:lastModifiedBy>Мастер</cp:lastModifiedBy>
  <cp:revision>50</cp:revision>
  <dcterms:created xsi:type="dcterms:W3CDTF">2025-11-12T21:28:14Z</dcterms:created>
  <dcterms:modified xsi:type="dcterms:W3CDTF">2025-11-24T07:02:44Z</dcterms:modified>
</cp:coreProperties>
</file>