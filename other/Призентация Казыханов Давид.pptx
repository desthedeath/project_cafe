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5" r:id="rId9"/>
    <p:sldId id="25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EC41-8A25-4ADA-ACA6-3495204742B3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04E72-C05E-433E-9545-D5F5FEDE54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1662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EC41-8A25-4ADA-ACA6-3495204742B3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04E72-C05E-433E-9545-D5F5FEDE54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3224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EC41-8A25-4ADA-ACA6-3495204742B3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04E72-C05E-433E-9545-D5F5FEDE54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9597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EC41-8A25-4ADA-ACA6-3495204742B3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04E72-C05E-433E-9545-D5F5FEDE54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9763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EC41-8A25-4ADA-ACA6-3495204742B3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04E72-C05E-433E-9545-D5F5FEDE54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0632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EC41-8A25-4ADA-ACA6-3495204742B3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04E72-C05E-433E-9545-D5F5FEDE54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1889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EC41-8A25-4ADA-ACA6-3495204742B3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04E72-C05E-433E-9545-D5F5FEDE54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6966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EC41-8A25-4ADA-ACA6-3495204742B3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04E72-C05E-433E-9545-D5F5FEDE54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4856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EC41-8A25-4ADA-ACA6-3495204742B3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04E72-C05E-433E-9545-D5F5FEDE54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73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EC41-8A25-4ADA-ACA6-3495204742B3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04E72-C05E-433E-9545-D5F5FEDE54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632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EC41-8A25-4ADA-ACA6-3495204742B3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04E72-C05E-433E-9545-D5F5FEDE546D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244277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EC41-8A25-4ADA-ACA6-3495204742B3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04E72-C05E-433E-9545-D5F5FEDE54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03900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EC41-8A25-4ADA-ACA6-3495204742B3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04E72-C05E-433E-9545-D5F5FEDE546D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99533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EC41-8A25-4ADA-ACA6-3495204742B3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04E72-C05E-433E-9545-D5F5FEDE54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9418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EC41-8A25-4ADA-ACA6-3495204742B3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04E72-C05E-433E-9545-D5F5FEDE54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79795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EC41-8A25-4ADA-ACA6-3495204742B3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04E72-C05E-433E-9545-D5F5FEDE54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7328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EEC41-8A25-4ADA-ACA6-3495204742B3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9704E72-C05E-433E-9545-D5F5FEDE54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5916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2D2733-3207-403D-AFBF-CA7BFF7C7B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4000" dirty="0"/>
              <a:t>Настройка конфигурации и сборки приложения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C5B4337-4030-4EC4-960E-77CF1E38D6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3610" y="6488454"/>
            <a:ext cx="2702080" cy="369546"/>
          </a:xfrm>
        </p:spPr>
        <p:txBody>
          <a:bodyPr/>
          <a:lstStyle/>
          <a:p>
            <a:r>
              <a:rPr lang="ru-RU" dirty="0" err="1">
                <a:solidFill>
                  <a:schemeClr val="tx1"/>
                </a:solidFill>
              </a:rPr>
              <a:t>Казыханов</a:t>
            </a:r>
            <a:r>
              <a:rPr lang="ru-RU" dirty="0">
                <a:solidFill>
                  <a:schemeClr val="tx1"/>
                </a:solidFill>
              </a:rPr>
              <a:t> Давид 22П-2</a:t>
            </a:r>
          </a:p>
        </p:txBody>
      </p:sp>
    </p:spTree>
    <p:extLst>
      <p:ext uri="{BB962C8B-B14F-4D97-AF65-F5344CB8AC3E}">
        <p14:creationId xmlns:p14="http://schemas.microsoft.com/office/powerpoint/2010/main" val="3830816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ED62E7-3F63-413B-BB41-42FB4178D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Настройка конфигурации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B48561-EACE-4E8A-9F58-452DAFC37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b="0" i="0" dirty="0">
                <a:solidFill>
                  <a:schemeClr val="tx1"/>
                </a:solidFill>
                <a:effectLst/>
                <a:latin typeface="Trebuchet MS (Основной текст)"/>
              </a:rPr>
              <a:t>это процесс установки, изменения и управления набором параметров и настроек для системы, программы или устройства, чтобы адаптировать его к конкретным требованиям.</a:t>
            </a:r>
          </a:p>
          <a:p>
            <a:r>
              <a:rPr lang="ru-RU" sz="2000" b="0" i="0" dirty="0">
                <a:solidFill>
                  <a:schemeClr val="tx1"/>
                </a:solidFill>
                <a:effectLst/>
                <a:latin typeface="Trebuchet MS (Основной текст)"/>
              </a:rPr>
              <a:t>Файлы конфигурации</a:t>
            </a:r>
            <a:r>
              <a:rPr lang="en-US" sz="2000" dirty="0">
                <a:solidFill>
                  <a:schemeClr val="tx1"/>
                </a:solidFill>
                <a:latin typeface="Trebuchet MS (Основной текст)"/>
              </a:rPr>
              <a:t>:</a:t>
            </a:r>
            <a:r>
              <a:rPr lang="ru-RU" sz="2000" b="0" i="0" dirty="0">
                <a:solidFill>
                  <a:schemeClr val="tx1"/>
                </a:solidFill>
                <a:effectLst/>
                <a:latin typeface="Trebuchet MS (Основной текст)"/>
              </a:rPr>
              <a:t>.</a:t>
            </a:r>
            <a:r>
              <a:rPr lang="ru-RU" sz="2000" b="0" i="0" dirty="0" err="1">
                <a:solidFill>
                  <a:schemeClr val="tx1"/>
                </a:solidFill>
                <a:effectLst/>
                <a:latin typeface="Trebuchet MS (Основной текст)"/>
              </a:rPr>
              <a:t>json</a:t>
            </a:r>
            <a:r>
              <a:rPr lang="ru-RU" sz="2000" b="0" i="0" dirty="0">
                <a:solidFill>
                  <a:schemeClr val="tx1"/>
                </a:solidFill>
                <a:effectLst/>
                <a:latin typeface="Trebuchet MS (Основной текст)"/>
              </a:rPr>
              <a:t>, .</a:t>
            </a:r>
            <a:r>
              <a:rPr lang="ru-RU" sz="2000" b="0" i="0" dirty="0" err="1">
                <a:solidFill>
                  <a:schemeClr val="tx1"/>
                </a:solidFill>
                <a:effectLst/>
                <a:latin typeface="Trebuchet MS (Основной текст)"/>
              </a:rPr>
              <a:t>yaml</a:t>
            </a:r>
            <a:r>
              <a:rPr lang="ru-RU" sz="2000" b="0" i="0" dirty="0">
                <a:solidFill>
                  <a:schemeClr val="tx1"/>
                </a:solidFill>
                <a:effectLst/>
                <a:latin typeface="Trebuchet MS (Основной текст)"/>
              </a:rPr>
              <a:t>, .</a:t>
            </a:r>
            <a:r>
              <a:rPr lang="ru-RU" sz="2000" b="0" i="0" dirty="0" err="1">
                <a:solidFill>
                  <a:schemeClr val="tx1"/>
                </a:solidFill>
                <a:effectLst/>
                <a:latin typeface="Trebuchet MS (Основной текст)"/>
              </a:rPr>
              <a:t>env</a:t>
            </a:r>
            <a:endParaRPr lang="en-US" sz="2000" dirty="0">
              <a:solidFill>
                <a:schemeClr val="tx1"/>
              </a:solidFill>
              <a:latin typeface="Trebuchet MS (Основной текст)"/>
            </a:endParaRPr>
          </a:p>
          <a:p>
            <a:r>
              <a:rPr lang="ru-RU" sz="2000" dirty="0">
                <a:solidFill>
                  <a:schemeClr val="tx1"/>
                </a:solidFill>
                <a:latin typeface="Trebuchet MS (Основной текст)"/>
              </a:rPr>
              <a:t>Пример</a:t>
            </a:r>
            <a:r>
              <a:rPr lang="en-US" sz="2000" dirty="0">
                <a:solidFill>
                  <a:schemeClr val="tx1"/>
                </a:solidFill>
                <a:latin typeface="Trebuchet MS (Основной текст)"/>
              </a:rPr>
              <a:t>:</a:t>
            </a:r>
            <a:r>
              <a:rPr lang="en-US" sz="2000" b="0" i="0" dirty="0">
                <a:solidFill>
                  <a:srgbClr val="F9FAFB"/>
                </a:solidFill>
                <a:effectLst/>
                <a:latin typeface="Menlo"/>
              </a:rPr>
              <a:t> </a:t>
            </a:r>
          </a:p>
          <a:p>
            <a:pPr marL="0" indent="0">
              <a:buNone/>
            </a:pPr>
            <a:r>
              <a:rPr lang="en-US" sz="2000" b="0" i="0" dirty="0">
                <a:solidFill>
                  <a:schemeClr val="tx1"/>
                </a:solidFill>
                <a:effectLst/>
                <a:latin typeface="Trebuchet MS (Основной текст)"/>
              </a:rPr>
              <a:t>						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Trebuchet MS (Основной текст)"/>
              </a:rPr>
              <a:t>appsettings.Development.json</a:t>
            </a:r>
            <a:endParaRPr lang="ru-RU" sz="2000" dirty="0">
              <a:solidFill>
                <a:schemeClr val="tx1"/>
              </a:solidFill>
              <a:latin typeface="Trebuchet MS (Основной текст)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392FFD4-BEFA-471E-954C-978C52958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582" y="4609871"/>
            <a:ext cx="3429479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731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499312-329D-4EA8-9355-BC2BE1BBD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0" dirty="0">
                <a:solidFill>
                  <a:schemeClr val="tx1"/>
                </a:solidFill>
                <a:effectLst/>
                <a:latin typeface="Trebuchet MS (Заголовки)"/>
              </a:rPr>
              <a:t>Процесс сборки</a:t>
            </a:r>
            <a:endParaRPr lang="ru-RU" dirty="0">
              <a:solidFill>
                <a:schemeClr val="tx1"/>
              </a:solidFill>
              <a:latin typeface="Trebuchet MS (Заголовки)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9FE7A5-0153-4680-96F9-A9249AD29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b="0" i="0" dirty="0">
                <a:solidFill>
                  <a:schemeClr val="tx1"/>
                </a:solidFill>
                <a:effectLst/>
                <a:latin typeface="Trebuchet MS (Основной текст)"/>
              </a:rPr>
              <a:t>это процесс соединения составных частей изделия (деталей, узлов) в определенной последовательности для получения готового продукта, соответствующего техническим требованиям.</a:t>
            </a:r>
          </a:p>
          <a:p>
            <a:r>
              <a:rPr lang="ru-RU" sz="2000" dirty="0">
                <a:solidFill>
                  <a:schemeClr val="tx1"/>
                </a:solidFill>
                <a:latin typeface="Trebuchet MS (Основной текст)"/>
              </a:rPr>
              <a:t>Инструменты</a:t>
            </a:r>
            <a:r>
              <a:rPr lang="en-US" sz="2000" dirty="0">
                <a:solidFill>
                  <a:schemeClr val="tx1"/>
                </a:solidFill>
                <a:latin typeface="Trebuchet MS (Основной текст)"/>
              </a:rPr>
              <a:t>: </a:t>
            </a:r>
            <a:r>
              <a:rPr lang="en-US" sz="2000" dirty="0" err="1">
                <a:solidFill>
                  <a:schemeClr val="tx1"/>
                </a:solidFill>
                <a:latin typeface="Trebuchet MS (Основной текст)"/>
              </a:rPr>
              <a:t>setuptools</a:t>
            </a:r>
            <a:r>
              <a:rPr lang="en-US" sz="2000" dirty="0">
                <a:solidFill>
                  <a:schemeClr val="tx1"/>
                </a:solidFill>
                <a:latin typeface="quote-cjk-patch"/>
              </a:rPr>
              <a:t>(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Trebuchet MS (Основной текст)"/>
              </a:rPr>
              <a:t>Python), Maven/Gradle(Java), Webpack/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Trebuchet MS (Основной текст)"/>
              </a:rPr>
              <a:t>Vite</a:t>
            </a:r>
            <a:r>
              <a:rPr lang="en-US" sz="2000" dirty="0">
                <a:solidFill>
                  <a:schemeClr val="tx1"/>
                </a:solidFill>
                <a:latin typeface="Trebuchet MS (Основной текст)"/>
              </a:rPr>
              <a:t>(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Trebuchet MS (Основной текст)"/>
              </a:rPr>
              <a:t>JS), 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Trebuchet MS (Основной текст)"/>
              </a:rPr>
              <a:t>MSBuild</a:t>
            </a:r>
            <a:r>
              <a:rPr lang="en-US" sz="2000" dirty="0">
                <a:solidFill>
                  <a:schemeClr val="tx1"/>
                </a:solidFill>
                <a:latin typeface="Trebuchet MS (Основной текст)"/>
              </a:rPr>
              <a:t>(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Trebuchet MS (Основной текст)"/>
              </a:rPr>
              <a:t>C#).</a:t>
            </a:r>
            <a:endParaRPr lang="ru-RU" sz="2000" dirty="0">
              <a:solidFill>
                <a:schemeClr val="tx1"/>
              </a:solidFill>
              <a:latin typeface="Trebuchet MS (Основной текст)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D5F17C8-ACA0-4084-B1EB-F42B58A4D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395" y="4188739"/>
            <a:ext cx="7344800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508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3F8C9C-13BD-4BA6-B86A-044AC87E6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Логирование Событий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23B1AC-C7AE-44FE-9BDB-3443D49C0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>
                <a:solidFill>
                  <a:schemeClr val="tx1"/>
                </a:solidFill>
                <a:latin typeface="Trebuchet MS (Основной текст)"/>
              </a:rPr>
              <a:t>это процесс записи и хранения информации о действиях, состояниях и ошибках, происходящих в системе, приложениях или программном обеспечении.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tx1"/>
                </a:solidFill>
                <a:latin typeface="Trebuchet MS (Основной текст)"/>
              </a:rPr>
              <a:t>Уровни Логирования</a:t>
            </a:r>
            <a:r>
              <a:rPr lang="en-US" sz="2400" dirty="0">
                <a:solidFill>
                  <a:schemeClr val="tx1"/>
                </a:solidFill>
                <a:latin typeface="Trebuchet MS (Основной текст)"/>
              </a:rPr>
              <a:t>:</a:t>
            </a:r>
          </a:p>
          <a:p>
            <a:r>
              <a:rPr lang="en-US" sz="2000" dirty="0">
                <a:solidFill>
                  <a:schemeClr val="tx1"/>
                </a:solidFill>
                <a:latin typeface="Trebuchet MS (Основной текст)"/>
              </a:rPr>
              <a:t>Debug</a:t>
            </a:r>
            <a:r>
              <a:rPr lang="ru-RU" sz="2000" dirty="0">
                <a:solidFill>
                  <a:schemeClr val="tx1"/>
                </a:solidFill>
                <a:latin typeface="Trebuchet MS (Основной текст)"/>
              </a:rPr>
              <a:t> - сообщения используемые во время откладки приложения</a:t>
            </a:r>
          </a:p>
          <a:p>
            <a:r>
              <a:rPr lang="en-US" sz="2000" dirty="0">
                <a:solidFill>
                  <a:schemeClr val="tx1"/>
                </a:solidFill>
                <a:latin typeface="Trebuchet MS (Основной текст)"/>
              </a:rPr>
              <a:t>Info</a:t>
            </a:r>
            <a:r>
              <a:rPr lang="ru-RU" sz="2000" dirty="0">
                <a:solidFill>
                  <a:schemeClr val="tx1"/>
                </a:solidFill>
                <a:latin typeface="Trebuchet MS (Основной текст)"/>
              </a:rPr>
              <a:t> – сообщение о том что происходит в приложении</a:t>
            </a:r>
          </a:p>
          <a:p>
            <a:r>
              <a:rPr lang="en-US" sz="2000" dirty="0">
                <a:solidFill>
                  <a:schemeClr val="tx1"/>
                </a:solidFill>
                <a:latin typeface="Trebuchet MS (Основной текст)"/>
              </a:rPr>
              <a:t>Warn – </a:t>
            </a:r>
            <a:r>
              <a:rPr lang="ru-RU" sz="2000" dirty="0">
                <a:solidFill>
                  <a:schemeClr val="tx1"/>
                </a:solidFill>
                <a:latin typeface="Trebuchet MS (Основной текст)"/>
              </a:rPr>
              <a:t>предупреждения о возникновении нежелательной ситуации</a:t>
            </a:r>
          </a:p>
          <a:p>
            <a:r>
              <a:rPr lang="en-US" sz="2000" dirty="0">
                <a:solidFill>
                  <a:schemeClr val="tx1"/>
                </a:solidFill>
                <a:latin typeface="Trebuchet MS (Основной текст)"/>
              </a:rPr>
              <a:t>Fatal – </a:t>
            </a:r>
            <a:r>
              <a:rPr lang="ru-RU" sz="2000" dirty="0">
                <a:solidFill>
                  <a:schemeClr val="tx1"/>
                </a:solidFill>
                <a:latin typeface="Trebuchet MS (Основной текст)"/>
              </a:rPr>
              <a:t>ошибка приводящая к завершению работе приложения</a:t>
            </a:r>
          </a:p>
          <a:p>
            <a:endParaRPr lang="ru-RU" sz="2000" dirty="0">
              <a:solidFill>
                <a:schemeClr val="tx1"/>
              </a:solidFill>
              <a:latin typeface="Trebuchet MS (Основной текст)"/>
            </a:endParaRPr>
          </a:p>
        </p:txBody>
      </p:sp>
    </p:spTree>
    <p:extLst>
      <p:ext uri="{BB962C8B-B14F-4D97-AF65-F5344CB8AC3E}">
        <p14:creationId xmlns:p14="http://schemas.microsoft.com/office/powerpoint/2010/main" val="140879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9FAD3E-7E8C-4874-9DD9-54B7C807F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Пример логирования через консоль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97FEC59-F776-4F36-839B-053D9F011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839" y="2435325"/>
            <a:ext cx="7242240" cy="381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809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4499A0-6054-4BB2-B07F-6C6E41642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tx1"/>
                </a:solidFill>
                <a:effectLst/>
                <a:latin typeface="quote-cjk-patch"/>
              </a:rPr>
              <a:t>Форматы логов</a:t>
            </a:r>
            <a:br>
              <a:rPr lang="ru-RU" b="1" dirty="0">
                <a:solidFill>
                  <a:srgbClr val="F9FAFB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1EAC9A-313B-4B38-87C4-A271B8F8E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749" y="1749915"/>
            <a:ext cx="1800143" cy="410673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Простой текст</a:t>
            </a:r>
            <a:r>
              <a:rPr lang="en-US" dirty="0">
                <a:solidFill>
                  <a:schemeClr val="tx1"/>
                </a:solidFill>
              </a:rPr>
              <a:t>:</a:t>
            </a:r>
            <a:endParaRPr lang="ru-RU" dirty="0">
              <a:solidFill>
                <a:schemeClr val="tx1"/>
              </a:solidFill>
            </a:endParaRPr>
          </a:p>
          <a:p>
            <a:endParaRPr lang="ru-RU" dirty="0"/>
          </a:p>
        </p:txBody>
      </p:sp>
      <p:pic>
        <p:nvPicPr>
          <p:cNvPr id="4098" name="Picture 2" descr="Лог-файлы (log): что это простыми словами, зачем нужно логирование, как  читать логи / Skillbox Media">
            <a:extLst>
              <a:ext uri="{FF2B5EF4-FFF2-40B4-BE49-F238E27FC236}">
                <a16:creationId xmlns:a16="http://schemas.microsoft.com/office/drawing/2014/main" id="{F6A84EF9-57FA-4228-9146-94B6758F6D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5" t="10562" r="23515" b="7293"/>
          <a:stretch/>
        </p:blipFill>
        <p:spPr bwMode="auto">
          <a:xfrm>
            <a:off x="278749" y="2248838"/>
            <a:ext cx="3800882" cy="2360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6F8E80B-7779-4EB8-B10F-E492E1402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02154"/>
            <a:ext cx="4423508" cy="2360323"/>
          </a:xfrm>
          <a:prstGeom prst="rect">
            <a:avLst/>
          </a:prstGeom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99F3849C-051D-4A2D-B2BA-6EAFE4190585}"/>
              </a:ext>
            </a:extLst>
          </p:cNvPr>
          <p:cNvSpPr txBox="1">
            <a:spLocks/>
          </p:cNvSpPr>
          <p:nvPr/>
        </p:nvSpPr>
        <p:spPr>
          <a:xfrm>
            <a:off x="4975668" y="3428999"/>
            <a:ext cx="1800143" cy="4106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dirty="0">
                <a:solidFill>
                  <a:schemeClr val="tx1"/>
                </a:solidFill>
              </a:rPr>
              <a:t>JSON:</a:t>
            </a:r>
            <a:endParaRPr lang="ru-RU" dirty="0">
              <a:solidFill>
                <a:schemeClr val="tx1"/>
              </a:solidFill>
            </a:endParaRPr>
          </a:p>
          <a:p>
            <a:endParaRPr lang="ru-RU" dirty="0"/>
          </a:p>
        </p:txBody>
      </p:sp>
      <p:pic>
        <p:nvPicPr>
          <p:cNvPr id="4100" name="Picture 4" descr="Build your own Data Acquisition and Logging System to CSV file using Python  and Arduino | xanthium enterprises">
            <a:extLst>
              <a:ext uri="{FF2B5EF4-FFF2-40B4-BE49-F238E27FC236}">
                <a16:creationId xmlns:a16="http://schemas.microsoft.com/office/drawing/2014/main" id="{8195A7AD-7B73-407F-B163-D7BEAD07D5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75" r="9046" b="12747"/>
          <a:stretch/>
        </p:blipFill>
        <p:spPr bwMode="auto">
          <a:xfrm>
            <a:off x="6095999" y="4280914"/>
            <a:ext cx="4423507" cy="2360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Объект 2">
            <a:extLst>
              <a:ext uri="{FF2B5EF4-FFF2-40B4-BE49-F238E27FC236}">
                <a16:creationId xmlns:a16="http://schemas.microsoft.com/office/drawing/2014/main" id="{FE110E21-3E4C-4C9D-A11E-8B32D2217909}"/>
              </a:ext>
            </a:extLst>
          </p:cNvPr>
          <p:cNvSpPr txBox="1">
            <a:spLocks/>
          </p:cNvSpPr>
          <p:nvPr/>
        </p:nvSpPr>
        <p:spPr>
          <a:xfrm>
            <a:off x="5094328" y="6230564"/>
            <a:ext cx="1800143" cy="4106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dirty="0">
                <a:solidFill>
                  <a:schemeClr val="tx1"/>
                </a:solidFill>
              </a:rPr>
              <a:t>CSV:</a:t>
            </a:r>
            <a:endParaRPr lang="ru-RU" dirty="0">
              <a:solidFill>
                <a:schemeClr val="tx1"/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39092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252A8B-2DA0-4DBB-878D-15ACF8923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Контейнеризация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0FF9B8-0741-4C36-A8EC-461266D82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34343C"/>
                </a:solidFill>
                <a:effectLst/>
                <a:latin typeface="Trebuchet MS (Основной текст)"/>
              </a:rPr>
              <a:t>это способ упаковки приложения и всех его зависимостей в один образ, который запускается в изолированной среде, не влияющей на основную операционную систему.</a:t>
            </a:r>
            <a:endParaRPr lang="ru-RU" dirty="0">
              <a:solidFill>
                <a:srgbClr val="34343C"/>
              </a:solidFill>
              <a:latin typeface="Trebuchet MS (Основной текст)"/>
            </a:endParaRPr>
          </a:p>
        </p:txBody>
      </p:sp>
    </p:spTree>
    <p:extLst>
      <p:ext uri="{BB962C8B-B14F-4D97-AF65-F5344CB8AC3E}">
        <p14:creationId xmlns:p14="http://schemas.microsoft.com/office/powerpoint/2010/main" val="316365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C3FEDF-79E6-402F-BAA4-1CB4EF8A3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Dockerfile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FD5D73-6CAE-43AF-93F6-42B93F7AB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6327765" cy="3880773"/>
          </a:xfrm>
        </p:spPr>
        <p:txBody>
          <a:bodyPr/>
          <a:lstStyle/>
          <a:p>
            <a:r>
              <a:rPr lang="en-US" dirty="0">
                <a:solidFill>
                  <a:srgbClr val="34343C"/>
                </a:solidFill>
                <a:latin typeface="Trebuchet MS (Основной текст)"/>
              </a:rPr>
              <a:t>Dockerfile - </a:t>
            </a:r>
            <a:r>
              <a:rPr lang="ru-RU" b="0" i="0" dirty="0">
                <a:solidFill>
                  <a:schemeClr val="tx1"/>
                </a:solidFill>
                <a:effectLst/>
                <a:latin typeface="Trebuchet MS (Основной текст)"/>
              </a:rPr>
              <a:t>это текстовый файл с набором инструкций, которые описывают </a:t>
            </a:r>
            <a:r>
              <a:rPr lang="ru-RU" i="0" dirty="0">
                <a:solidFill>
                  <a:schemeClr val="tx1"/>
                </a:solidFill>
                <a:effectLst/>
                <a:latin typeface="Trebuchet MS (Основной текст)"/>
              </a:rPr>
              <a:t>как собрать </a:t>
            </a:r>
            <a:r>
              <a:rPr lang="ru-RU" i="0" dirty="0" err="1">
                <a:solidFill>
                  <a:schemeClr val="tx1"/>
                </a:solidFill>
                <a:effectLst/>
                <a:latin typeface="Trebuchet MS (Основной текст)"/>
              </a:rPr>
              <a:t>Docker</a:t>
            </a:r>
            <a:r>
              <a:rPr lang="en-US" dirty="0">
                <a:solidFill>
                  <a:schemeClr val="tx1"/>
                </a:solidFill>
                <a:latin typeface="Trebuchet MS (Основной текст)"/>
              </a:rPr>
              <a:t> </a:t>
            </a:r>
            <a:r>
              <a:rPr lang="ru-RU" i="0" dirty="0">
                <a:solidFill>
                  <a:schemeClr val="tx1"/>
                </a:solidFill>
                <a:effectLst/>
                <a:latin typeface="Trebuchet MS (Основной текст)"/>
              </a:rPr>
              <a:t>образ.</a:t>
            </a:r>
            <a:endParaRPr lang="ru-RU" dirty="0">
              <a:solidFill>
                <a:schemeClr val="tx1"/>
              </a:solidFill>
              <a:latin typeface="Trebuchet MS (Основной текст)"/>
            </a:endParaRPr>
          </a:p>
          <a:p>
            <a:r>
              <a:rPr lang="ru-RU" dirty="0">
                <a:solidFill>
                  <a:schemeClr val="tx1"/>
                </a:solidFill>
                <a:latin typeface="Trebuchet MS (Основной текст)"/>
              </a:rPr>
              <a:t>Образ(</a:t>
            </a:r>
            <a:r>
              <a:rPr lang="en-US" dirty="0">
                <a:solidFill>
                  <a:schemeClr val="tx1"/>
                </a:solidFill>
                <a:latin typeface="Trebuchet MS (Основной текст)"/>
              </a:rPr>
              <a:t>Image</a:t>
            </a:r>
            <a:r>
              <a:rPr lang="ru-RU" dirty="0">
                <a:solidFill>
                  <a:schemeClr val="tx1"/>
                </a:solidFill>
                <a:latin typeface="Trebuchet MS (Основной текст)"/>
              </a:rPr>
              <a:t>)</a:t>
            </a:r>
            <a:r>
              <a:rPr lang="en-US" dirty="0">
                <a:solidFill>
                  <a:schemeClr val="tx1"/>
                </a:solidFill>
                <a:latin typeface="Trebuchet MS (Основной текст)"/>
              </a:rPr>
              <a:t> –</a:t>
            </a:r>
            <a:r>
              <a:rPr lang="ru-RU" dirty="0">
                <a:solidFill>
                  <a:srgbClr val="E6E8F0"/>
                </a:solidFill>
                <a:latin typeface="Trebuchet MS (Основной текст)"/>
              </a:rPr>
              <a:t> </a:t>
            </a:r>
            <a:r>
              <a:rPr lang="ru-RU" b="0" i="0" dirty="0">
                <a:solidFill>
                  <a:schemeClr val="tx1"/>
                </a:solidFill>
                <a:effectLst/>
                <a:latin typeface="Trebuchet MS (Основной текст)"/>
              </a:rPr>
              <a:t>это шаблон, содержащий все необходимое для запуска приложения: код, библиотеки, зависимости и конфигурацию.</a:t>
            </a:r>
          </a:p>
          <a:p>
            <a:r>
              <a:rPr lang="ru-RU" dirty="0">
                <a:solidFill>
                  <a:schemeClr val="tx1"/>
                </a:solidFill>
                <a:latin typeface="Trebuchet MS (Основной текст)"/>
              </a:rPr>
              <a:t>Контейнер - это </a:t>
            </a:r>
            <a:r>
              <a:rPr lang="ru-RU" dirty="0">
                <a:solidFill>
                  <a:schemeClr val="tx1"/>
                </a:solidFill>
                <a:effectLst/>
                <a:latin typeface="Trebuchet MS (Основной текст)"/>
              </a:rPr>
              <a:t>изолированная</a:t>
            </a:r>
            <a:r>
              <a:rPr lang="ru-RU" b="1" dirty="0">
                <a:solidFill>
                  <a:schemeClr val="tx1"/>
                </a:solidFill>
                <a:effectLst/>
                <a:latin typeface="Trebuchet MS (Основной текст)"/>
              </a:rPr>
              <a:t>, </a:t>
            </a:r>
            <a:r>
              <a:rPr lang="ru-RU" dirty="0">
                <a:solidFill>
                  <a:schemeClr val="tx1"/>
                </a:solidFill>
                <a:effectLst/>
                <a:latin typeface="Trebuchet MS (Основной текст)"/>
              </a:rPr>
              <a:t>стандартизированная</a:t>
            </a:r>
            <a:r>
              <a:rPr lang="ru-RU" b="1" dirty="0">
                <a:solidFill>
                  <a:schemeClr val="tx1"/>
                </a:solidFill>
                <a:effectLst/>
                <a:latin typeface="Trebuchet MS (Основной текст)"/>
              </a:rPr>
              <a:t> </a:t>
            </a:r>
            <a:r>
              <a:rPr lang="ru-RU" dirty="0">
                <a:solidFill>
                  <a:schemeClr val="tx1"/>
                </a:solidFill>
                <a:effectLst/>
                <a:latin typeface="Trebuchet MS (Основной текст)"/>
              </a:rPr>
              <a:t>и</a:t>
            </a:r>
            <a:r>
              <a:rPr lang="ru-RU" b="1" dirty="0">
                <a:solidFill>
                  <a:schemeClr val="tx1"/>
                </a:solidFill>
                <a:effectLst/>
                <a:latin typeface="Trebuchet MS (Основной текст)"/>
              </a:rPr>
              <a:t> </a:t>
            </a:r>
            <a:r>
              <a:rPr lang="ru-RU" dirty="0">
                <a:solidFill>
                  <a:schemeClr val="tx1"/>
                </a:solidFill>
                <a:effectLst/>
                <a:latin typeface="Trebuchet MS (Основной текст)"/>
              </a:rPr>
              <a:t>переносимая</a:t>
            </a:r>
            <a:r>
              <a:rPr lang="ru-RU" b="1" dirty="0">
                <a:solidFill>
                  <a:schemeClr val="tx1"/>
                </a:solidFill>
                <a:effectLst/>
                <a:latin typeface="Trebuchet MS (Основной текст)"/>
              </a:rPr>
              <a:t> </a:t>
            </a:r>
            <a:r>
              <a:rPr lang="ru-RU" dirty="0">
                <a:solidFill>
                  <a:schemeClr val="tx1"/>
                </a:solidFill>
                <a:effectLst/>
                <a:latin typeface="Trebuchet MS (Основной текст)"/>
              </a:rPr>
              <a:t>среда</a:t>
            </a:r>
            <a:r>
              <a:rPr lang="ru-RU" b="1" dirty="0">
                <a:solidFill>
                  <a:schemeClr val="tx1"/>
                </a:solidFill>
                <a:effectLst/>
                <a:latin typeface="Trebuchet MS (Основной текст)"/>
              </a:rPr>
              <a:t> </a:t>
            </a:r>
            <a:r>
              <a:rPr lang="ru-RU" dirty="0">
                <a:solidFill>
                  <a:schemeClr val="tx1"/>
                </a:solidFill>
                <a:effectLst/>
                <a:latin typeface="Trebuchet MS (Основной текст)"/>
              </a:rPr>
              <a:t>выполнения</a:t>
            </a:r>
            <a:r>
              <a:rPr lang="ru-RU" dirty="0">
                <a:solidFill>
                  <a:schemeClr val="tx1"/>
                </a:solidFill>
                <a:latin typeface="Trebuchet MS (Основной текст)"/>
              </a:rPr>
              <a:t> для приложений, которая включает в себя все необходимое для их работы: код, зависимости, библиотеки и системные инструменты</a:t>
            </a:r>
            <a:r>
              <a:rPr lang="ru-RU" dirty="0">
                <a:latin typeface="Trebuchet MS (Основной текст)"/>
              </a:rPr>
              <a:t>.</a:t>
            </a:r>
            <a:endParaRPr lang="ru-RU" dirty="0">
              <a:solidFill>
                <a:schemeClr val="tx1"/>
              </a:solidFill>
              <a:latin typeface="Trebuchet MS (Основной текст)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4782DEB-77FA-483E-AC29-6E1E64EFB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6892" y="1254434"/>
            <a:ext cx="4826441" cy="336595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F10B4C8-EA37-4CBB-BED3-C54BF3B54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8938" y="5241150"/>
            <a:ext cx="6704395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693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5A856E-8FFB-4B14-8C55-7B245356DC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2388757069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339</TotalTime>
  <Words>280</Words>
  <Application>Microsoft Office PowerPoint</Application>
  <PresentationFormat>Широкоэкранный</PresentationFormat>
  <Paragraphs>29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7" baseType="lpstr">
      <vt:lpstr>Arial</vt:lpstr>
      <vt:lpstr>Menlo</vt:lpstr>
      <vt:lpstr>quote-cjk-patch</vt:lpstr>
      <vt:lpstr>Trebuchet MS</vt:lpstr>
      <vt:lpstr>Trebuchet MS (Заголовки)</vt:lpstr>
      <vt:lpstr>Trebuchet MS (Основной текст)</vt:lpstr>
      <vt:lpstr>Wingdings 3</vt:lpstr>
      <vt:lpstr>Аспект</vt:lpstr>
      <vt:lpstr>Настройка конфигурации и сборки приложения</vt:lpstr>
      <vt:lpstr>Настройка конфигурации</vt:lpstr>
      <vt:lpstr>Процесс сборки</vt:lpstr>
      <vt:lpstr>Логирование Событий</vt:lpstr>
      <vt:lpstr>Пример логирования через консоль</vt:lpstr>
      <vt:lpstr>Форматы логов </vt:lpstr>
      <vt:lpstr>Контейнеризация</vt:lpstr>
      <vt:lpstr>Dockerfile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Настройка конфигурации и сборки приложения</dc:title>
  <dc:creator>Мастер</dc:creator>
  <cp:lastModifiedBy>Мастер</cp:lastModifiedBy>
  <cp:revision>15</cp:revision>
  <dcterms:created xsi:type="dcterms:W3CDTF">2025-11-12T21:28:14Z</dcterms:created>
  <dcterms:modified xsi:type="dcterms:W3CDTF">2025-11-25T12:55:01Z</dcterms:modified>
</cp:coreProperties>
</file>